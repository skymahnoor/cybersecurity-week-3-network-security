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548640"/>
            <a:ext cx="1097280" cy="1097280"/>
          </a:xfrm>
          <a:prstGeom prst="ellipse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280160"/>
            <a:ext cx="640080" cy="640080"/>
          </a:xfrm>
          <a:prstGeom prst="ellipse">
            <a:avLst/>
          </a:prstGeom>
          <a:solidFill>
            <a:srgbClr val="D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5212080"/>
            <a:ext cx="1280160" cy="1280160"/>
          </a:xfrm>
          <a:prstGeom prst="ellipse">
            <a:avLst/>
          </a:prstGeom>
          <a:solidFill>
            <a:srgbClr val="F4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28016" cy="114300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96012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A3748"/>
                </a:solidFill>
                <a:latin typeface="Aptos Display"/>
              </a:defRPr>
            </a:pPr>
            <a:r>
              <a:t>Networking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3317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65262"/>
                </a:solidFill>
                <a:latin typeface="Aptos"/>
              </a:defRPr>
            </a:pPr>
            <a:r>
              <a:t>Cybersecurity Internship •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63240"/>
            <a:ext cx="7132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65262"/>
                </a:solidFill>
                <a:latin typeface="Aptos"/>
              </a:defRPr>
            </a:pPr>
            <a:r>
              <a:t>OSI • TCP/IP • Protocols • IP Addressing • Practical Networking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A3748"/>
                </a:solidFill>
                <a:latin typeface="Aptos"/>
              </a:defRPr>
            </a:pPr>
            <a:r>
              <a:t>Prepared by: Mah Noor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526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09728" cy="91440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A3748"/>
                </a:solidFill>
                <a:latin typeface="Aptos Display"/>
              </a:defRPr>
            </a:pPr>
            <a:r>
              <a:t>01  Week 1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Building a foundation for cybersecurity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1920240"/>
            <a:ext cx="82296" cy="310896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93391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Understand Networking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14600"/>
            <a:ext cx="26517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Learn how devices communicate and how networking supports cybersecurity.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291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9431" y="1920240"/>
            <a:ext cx="82296" cy="3108960"/>
          </a:xfrm>
          <a:prstGeom prst="roundRect">
            <a:avLst/>
          </a:prstGeom>
          <a:solidFill>
            <a:srgbClr val="D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93391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Learn Core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14600"/>
            <a:ext cx="26517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Study OSI, TCP/IP, protocols, IP addressing and subnetting.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291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11312" y="1920240"/>
            <a:ext cx="82296" cy="3108960"/>
          </a:xfrm>
          <a:prstGeom prst="roundRect">
            <a:avLst/>
          </a:prstGeom>
          <a:solidFill>
            <a:srgbClr val="F4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993391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Practice Hands-On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514600"/>
            <a:ext cx="26517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Use network commands and build a simple topology in Cisco Packet Tracer.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5262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09728" cy="91440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A3748"/>
                </a:solidFill>
                <a:latin typeface="Aptos Display"/>
              </a:defRPr>
            </a:pPr>
            <a:r>
              <a:t>02  The OSI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Seven layers that describe network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1874519" cy="438912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7335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3748"/>
                </a:solidFill>
                <a:latin typeface="Aptos"/>
              </a:defRPr>
            </a:pPr>
            <a:r>
              <a:t>7.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66420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User-facing network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76272"/>
            <a:ext cx="1874519" cy="438912"/>
          </a:xfrm>
          <a:prstGeom prst="roundRect">
            <a:avLst/>
          </a:prstGeom>
          <a:solidFill>
            <a:srgbClr val="D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4942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3748"/>
                </a:solidFill>
                <a:latin typeface="Aptos"/>
              </a:defRPr>
            </a:pPr>
            <a:r>
              <a:t>6.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240279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Translation, encryption &amp; compression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52344"/>
            <a:ext cx="1874519" cy="438912"/>
          </a:xfrm>
          <a:prstGeom prst="roundRect">
            <a:avLst/>
          </a:prstGeom>
          <a:solidFill>
            <a:srgbClr val="F4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2549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3748"/>
                </a:solidFill>
                <a:latin typeface="Aptos"/>
              </a:defRPr>
            </a:pPr>
            <a:r>
              <a:t>5.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816351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Manages communication sessions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28416"/>
            <a:ext cx="1874519" cy="438912"/>
          </a:xfrm>
          <a:prstGeom prst="roundRect">
            <a:avLst/>
          </a:prstGeom>
          <a:solidFill>
            <a:srgbClr val="C6D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015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3748"/>
                </a:solidFill>
                <a:latin typeface="Aptos"/>
              </a:defRPr>
            </a:pPr>
            <a:r>
              <a:t>4. Transport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392424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Reliable delivery &amp; segmentation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04487"/>
            <a:ext cx="1874519" cy="438912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77639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3748"/>
                </a:solidFill>
                <a:latin typeface="Aptos"/>
              </a:defRPr>
            </a:pPr>
            <a:r>
              <a:t>3.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968496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IP addressing &amp; routing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480560"/>
            <a:ext cx="1874519" cy="438912"/>
          </a:xfrm>
          <a:prstGeom prst="roundRect">
            <a:avLst/>
          </a:prstGeom>
          <a:solidFill>
            <a:srgbClr val="D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5537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3748"/>
                </a:solidFill>
                <a:latin typeface="Aptos"/>
              </a:defRPr>
            </a:pPr>
            <a:r>
              <a:t>2. Data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54456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MAC addressing &amp; local 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56632"/>
            <a:ext cx="1874519" cy="438912"/>
          </a:xfrm>
          <a:prstGeom prst="roundRect">
            <a:avLst/>
          </a:prstGeom>
          <a:solidFill>
            <a:srgbClr val="F4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1297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3748"/>
                </a:solidFill>
                <a:latin typeface="Aptos"/>
              </a:defRPr>
            </a:pPr>
            <a:r>
              <a:t>1. Physical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512064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Bits, cables, radio &amp;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526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09728" cy="91440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A3748"/>
                </a:solidFill>
                <a:latin typeface="Aptos Display"/>
              </a:defRPr>
            </a:pPr>
            <a:r>
              <a:t>03  TCP/IP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The practical four-layer model used by modern networks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1828800"/>
            <a:ext cx="82296" cy="685799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01952"/>
            <a:ext cx="4434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4.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44348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HTTP, HTTPS, FTP, DNS, SMTP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3063240"/>
            <a:ext cx="82296" cy="685799"/>
          </a:xfrm>
          <a:prstGeom prst="roundRect">
            <a:avLst/>
          </a:prstGeom>
          <a:solidFill>
            <a:srgbClr val="D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136391"/>
            <a:ext cx="4434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3.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57600"/>
            <a:ext cx="44348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TCP and UDP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1" y="1828800"/>
            <a:ext cx="82296" cy="685799"/>
          </a:xfrm>
          <a:prstGeom prst="roundRect">
            <a:avLst/>
          </a:prstGeom>
          <a:solidFill>
            <a:srgbClr val="F4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01952"/>
            <a:ext cx="4434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2. Internet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23160"/>
            <a:ext cx="44348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IP, ICMP and ARP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8036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28231" y="3063240"/>
            <a:ext cx="82296" cy="685799"/>
          </a:xfrm>
          <a:prstGeom prst="roundRect">
            <a:avLst/>
          </a:prstGeom>
          <a:solidFill>
            <a:srgbClr val="C6D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136391"/>
            <a:ext cx="4434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1. Network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57600"/>
            <a:ext cx="44348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Ethernet and Wi‑Fi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465262"/>
                </a:solidFill>
                <a:latin typeface="Aptos"/>
              </a:defRPr>
            </a:pPr>
            <a:r>
              <a:t>• OSI = 7-layer reference model</a:t>
            </a:r>
          </a:p>
          <a:p>
            <a:pPr>
              <a:spcAft>
                <a:spcPts val="1600"/>
              </a:spcAft>
              <a:defRPr sz="1700">
                <a:solidFill>
                  <a:srgbClr val="465262"/>
                </a:solidFill>
                <a:latin typeface="Aptos"/>
              </a:defRPr>
            </a:pPr>
            <a:r>
              <a:t>• TCP/IP = 4-layer practical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5262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09728" cy="91440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A3748"/>
                </a:solidFill>
                <a:latin typeface="Aptos Display"/>
              </a:defRPr>
            </a:pPr>
            <a:r>
              <a:t>04  Core Networking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Protocols define how devices exchange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828800"/>
            <a:ext cx="82296" cy="283464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HTTP / HTTPS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19202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Used by browsers and web servers. HTTPS adds encryption using SSL/TLS.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39312" y="1828800"/>
            <a:ext cx="82296" cy="2834640"/>
          </a:xfrm>
          <a:prstGeom prst="roundRect">
            <a:avLst/>
          </a:prstGeom>
          <a:solidFill>
            <a:srgbClr val="D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901952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FTP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423160"/>
            <a:ext cx="19202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Transfers files between a client and a server, including uploads and downloads.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2512" y="1828800"/>
            <a:ext cx="82296" cy="2834640"/>
          </a:xfrm>
          <a:prstGeom prst="roundRect">
            <a:avLst/>
          </a:prstGeom>
          <a:solidFill>
            <a:srgbClr val="F4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01952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DNS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423160"/>
            <a:ext cx="19202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Converts domain names such as google.com into IP addresses.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25712" y="1828800"/>
            <a:ext cx="82296" cy="2834640"/>
          </a:xfrm>
          <a:prstGeom prst="roundRect">
            <a:avLst/>
          </a:prstGeom>
          <a:solidFill>
            <a:srgbClr val="C6D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901952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DHCP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423160"/>
            <a:ext cx="19202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Automatically provides IP addresses and other network settings to devices.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5262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09728" cy="91440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A3748"/>
                </a:solidFill>
                <a:latin typeface="Aptos Display"/>
              </a:defRPr>
            </a:pPr>
            <a:r>
              <a:t>05  IP Addressing &amp; Subnetting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How devices are identified and networks are organized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1828800"/>
            <a:ext cx="82296" cy="292608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019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IP 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2743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A numerical label that helps devices locate and communicate with each other.</a:t>
            </a:r>
            <a:br/>
            <a:br/>
            <a:r>
              <a:t>Example: 192.168.1.10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1828800"/>
            <a:ext cx="82296" cy="2926080"/>
          </a:xfrm>
          <a:prstGeom prst="roundRect">
            <a:avLst/>
          </a:prstGeom>
          <a:solidFill>
            <a:srgbClr val="D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9019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Private vs 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23160"/>
            <a:ext cx="2743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Private IPs are used inside local networks. Public IPs are used for external internet communication.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4592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9871" y="1828800"/>
            <a:ext cx="82296" cy="2926080"/>
          </a:xfrm>
          <a:prstGeom prst="roundRect">
            <a:avLst/>
          </a:prstGeom>
          <a:solidFill>
            <a:srgbClr val="F4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9019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Subnetting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423160"/>
            <a:ext cx="2743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Divides a larger network into smaller networks using a subnet mask such as 255.255.255.0.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526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09728" cy="91440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A3748"/>
                </a:solidFill>
                <a:latin typeface="Aptos Display"/>
              </a:defRPr>
            </a:pPr>
            <a:r>
              <a:t>06  Practical Network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Simple commands used to observe and troubleshoot networks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1874520"/>
            <a:ext cx="82296" cy="283464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4767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ping google.com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68880"/>
            <a:ext cx="2743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Checks connectivity and shows reply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1874520"/>
            <a:ext cx="82296" cy="2834640"/>
          </a:xfrm>
          <a:prstGeom prst="roundRect">
            <a:avLst/>
          </a:prstGeom>
          <a:solidFill>
            <a:srgbClr val="D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94767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ipconfig / ifconfig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68880"/>
            <a:ext cx="2743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Displays IP address, subnet mask and gateway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9164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9871" y="1874520"/>
            <a:ext cx="82296" cy="2834640"/>
          </a:xfrm>
          <a:prstGeom prst="roundRect">
            <a:avLst/>
          </a:prstGeom>
          <a:solidFill>
            <a:srgbClr val="F4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94767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tracert google.com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468880"/>
            <a:ext cx="2743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Shows the path data takes through routers or hops.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465262"/>
                </a:solidFill>
                <a:latin typeface="Aptos"/>
              </a:defRPr>
            </a:pPr>
            <a:r>
              <a:t>• These commands can help identify basic connectivity problems.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5262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09728" cy="91440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A3748"/>
                </a:solidFill>
                <a:latin typeface="Aptos Display"/>
              </a:defRPr>
            </a:pPr>
            <a:r>
              <a:t>07  Cisco Packet Tracer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Applying networking concepts in a simulated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1828800"/>
            <a:ext cx="82296" cy="320040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01952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Topology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265176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PC → Switch → Router</a:t>
            </a:r>
            <a:br/>
            <a:br/>
            <a:r>
              <a:t>Copper Straight-Through cables were used to connect the devices.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9431" y="1828800"/>
            <a:ext cx="82296" cy="3200400"/>
          </a:xfrm>
          <a:prstGeom prst="roundRect">
            <a:avLst/>
          </a:prstGeom>
          <a:solidFill>
            <a:srgbClr val="D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01952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IP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423160"/>
            <a:ext cx="265176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PC: 192.168.1.10</a:t>
            </a:r>
            <a:br/>
            <a:r>
              <a:t>Subnet: 255.255.255.0</a:t>
            </a:r>
            <a:br/>
            <a:r>
              <a:t>Gateway: 192.168.1.1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11312" y="1828800"/>
            <a:ext cx="82296" cy="3200400"/>
          </a:xfrm>
          <a:prstGeom prst="roundRect">
            <a:avLst/>
          </a:prstGeom>
          <a:solidFill>
            <a:srgbClr val="F4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901952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Connectivity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423160"/>
            <a:ext cx="265176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The PC used:</a:t>
            </a:r>
            <a:br/>
            <a:br/>
            <a:r>
              <a:t>ping 192.168.1.1</a:t>
            </a:r>
            <a:br/>
            <a:br/>
            <a:r>
              <a:t>A successful reply confirmed connectivity.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5262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09728" cy="91440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A3748"/>
                </a:solidFill>
                <a:latin typeface="Aptos Display"/>
              </a:defRPr>
            </a:pPr>
            <a:r>
              <a:t>08  Weekly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What I learned, what challenged me, and how I improved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" y="1828800"/>
            <a:ext cx="82296" cy="150876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0195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What I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I learned how devices communicate, how OSI and TCP/IP organize networking, and how common protocols and IP addresses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36792" y="1828800"/>
            <a:ext cx="82296" cy="1508760"/>
          </a:xfrm>
          <a:prstGeom prst="roundRect">
            <a:avLst/>
          </a:prstGeom>
          <a:solidFill>
            <a:srgbClr val="F4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0195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The OSI layers, protocols, IP addresses, subnet masks and Packet Tracer configuration were confusing at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" y="3977640"/>
            <a:ext cx="82296" cy="1508760"/>
          </a:xfrm>
          <a:prstGeom prst="roundRect">
            <a:avLst/>
          </a:prstGeom>
          <a:solidFill>
            <a:srgbClr val="D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5079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How I Solved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I studied each concept step by step, used simple examples, practiced commands and tested the network in Packet Tracer.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36792" y="3977640"/>
            <a:ext cx="82296" cy="1508760"/>
          </a:xfrm>
          <a:prstGeom prst="roundRect">
            <a:avLst/>
          </a:prstGeom>
          <a:solidFill>
            <a:srgbClr val="C6D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05079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A3748"/>
                </a:solidFill>
                <a:latin typeface="Aptos Display"/>
              </a:defRPr>
            </a:pPr>
            <a:r>
              <a:t>Key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72000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262"/>
                </a:solidFill>
                <a:latin typeface="Aptos"/>
              </a:defRPr>
            </a:pPr>
            <a:r>
              <a:t>Practical testing helped connect the theory with real network behavior and made the concepts easier to understand.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5262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28016" cy="1143000"/>
          </a:xfrm>
          <a:prstGeom prst="roundRect">
            <a:avLst/>
          </a:prstGeom>
          <a:solidFill>
            <a:srgbClr val="B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315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2A3748"/>
                </a:solidFill>
                <a:latin typeface="Aptos Display"/>
              </a:defRPr>
            </a:pPr>
            <a:r>
              <a:t>09 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65262"/>
                </a:solidFill>
                <a:latin typeface="Aptos"/>
              </a:defRPr>
            </a:pPr>
            <a:r>
              <a:t>• Networking is a foundation for cybersecurity.</a:t>
            </a:r>
          </a:p>
          <a:p>
            <a:pPr>
              <a:spcAft>
                <a:spcPts val="1600"/>
              </a:spcAft>
              <a:defRPr sz="2000">
                <a:solidFill>
                  <a:srgbClr val="465262"/>
                </a:solidFill>
                <a:latin typeface="Aptos"/>
              </a:defRPr>
            </a:pPr>
            <a:r>
              <a:t>• OSI and TCP/IP help explain how data moves across networks.</a:t>
            </a:r>
          </a:p>
          <a:p>
            <a:pPr>
              <a:spcAft>
                <a:spcPts val="1600"/>
              </a:spcAft>
              <a:defRPr sz="2000">
                <a:solidFill>
                  <a:srgbClr val="465262"/>
                </a:solidFill>
                <a:latin typeface="Aptos"/>
              </a:defRPr>
            </a:pPr>
            <a:r>
              <a:t>• Protocols such as DNS, DHCP, HTTP/HTTPS and FTP have different roles.</a:t>
            </a:r>
          </a:p>
          <a:p>
            <a:pPr>
              <a:spcAft>
                <a:spcPts val="1600"/>
              </a:spcAft>
              <a:defRPr sz="2000">
                <a:solidFill>
                  <a:srgbClr val="465262"/>
                </a:solidFill>
                <a:latin typeface="Aptos"/>
              </a:defRPr>
            </a:pPr>
            <a:r>
              <a:t>• IP addressing and subnetting organize devices and networks.</a:t>
            </a:r>
          </a:p>
          <a:p>
            <a:pPr>
              <a:spcAft>
                <a:spcPts val="1600"/>
              </a:spcAft>
              <a:defRPr sz="2000">
                <a:solidFill>
                  <a:srgbClr val="465262"/>
                </a:solidFill>
                <a:latin typeface="Aptos"/>
              </a:defRPr>
            </a:pPr>
            <a:r>
              <a:t>• Hands-on commands and Packet Tracer made the concepts easier to understand.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25780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A3748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526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